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donis" charset="1" panose="00000000000000000000"/>
      <p:regular r:id="rId17"/>
    </p:embeddedFont>
    <p:embeddedFont>
      <p:font typeface="DejaVu Sans Light" charset="1" panose="020B0603030804020204"/>
      <p:regular r:id="rId18"/>
    </p:embeddedFont>
    <p:embeddedFont>
      <p:font typeface="DejaVu Sans Bold" charset="1" panose="020B0803030604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721613" cy="10287000"/>
            <a:chOff x="0" y="0"/>
            <a:chExt cx="88642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86428" cy="1593725"/>
            </a:xfrm>
            <a:custGeom>
              <a:avLst/>
              <a:gdLst/>
              <a:ahLst/>
              <a:cxnLst/>
              <a:rect r="r" b="b" t="t" l="l"/>
              <a:pathLst>
                <a:path h="1593725" w="886428">
                  <a:moveTo>
                    <a:pt x="0" y="0"/>
                  </a:moveTo>
                  <a:lnTo>
                    <a:pt x="886428" y="0"/>
                  </a:lnTo>
                  <a:lnTo>
                    <a:pt x="88642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11683" t="0" r="-68108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995565" y="1022531"/>
            <a:ext cx="10553984" cy="1510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37"/>
              </a:lnSpc>
            </a:pPr>
            <a:r>
              <a:rPr lang="en-US" sz="7088">
                <a:solidFill>
                  <a:srgbClr val="FFBD59"/>
                </a:solidFill>
                <a:latin typeface="Adonis"/>
                <a:ea typeface="Adonis"/>
                <a:cs typeface="Adonis"/>
                <a:sym typeface="Adonis"/>
              </a:rPr>
              <a:t>Bike-Share Analysis</a:t>
            </a:r>
          </a:p>
          <a:p>
            <a:pPr algn="l">
              <a:lnSpc>
                <a:spcPts val="1421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7506719" y="3560318"/>
            <a:ext cx="15676245" cy="703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B6C3D3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A step-by-step workbook walkthrough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918388" y="4480560"/>
            <a:ext cx="9099541" cy="14288"/>
            <a:chOff x="0" y="0"/>
            <a:chExt cx="12132721" cy="19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132721" cy="19050"/>
            </a:xfrm>
            <a:custGeom>
              <a:avLst/>
              <a:gdLst/>
              <a:ahLst/>
              <a:cxnLst/>
              <a:rect r="r" b="b" t="t" l="l"/>
              <a:pathLst>
                <a:path h="19050" w="12132721">
                  <a:moveTo>
                    <a:pt x="0" y="0"/>
                  </a:moveTo>
                  <a:lnTo>
                    <a:pt x="12132721" y="0"/>
                  </a:lnTo>
                  <a:lnTo>
                    <a:pt x="1213272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24156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8131599" y="6138861"/>
            <a:ext cx="4817745" cy="93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9"/>
              </a:lnSpc>
            </a:pPr>
            <a:r>
              <a:rPr lang="en-US" sz="6075" b="true">
                <a:solidFill>
                  <a:srgbClr val="C7F36B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1,000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50861" y="6429374"/>
            <a:ext cx="5532120" cy="34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>
                <a:solidFill>
                  <a:srgbClr val="B6C3D3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hourly records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31599" y="5133975"/>
            <a:ext cx="6887881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4"/>
              </a:lnSpc>
            </a:pPr>
            <a:r>
              <a:rPr lang="en-US" sz="4237">
                <a:solidFill>
                  <a:srgbClr val="F5F7FA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1 Jan–14 Feb 2011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636365" y="9527857"/>
            <a:ext cx="645795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B6C3D3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59146" y="536257"/>
            <a:ext cx="15957293" cy="326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80" b="true">
                <a:solidFill>
                  <a:srgbClr val="C7F36B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STEP 1   /   Merge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59146" y="1245926"/>
            <a:ext cx="16720519" cy="1319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02"/>
              </a:lnSpc>
            </a:pPr>
            <a:r>
              <a:rPr lang="en-US" sz="5085" b="true">
                <a:solidFill>
                  <a:srgbClr val="F5F7F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Source tables and the join key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59146" y="3119484"/>
            <a:ext cx="7591162" cy="620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6"/>
              </a:lnSpc>
            </a:pPr>
            <a:r>
              <a:rPr lang="en-US" sz="3813" b="true">
                <a:solidFill>
                  <a:srgbClr val="C7F36B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dataset_1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59146" y="3941419"/>
            <a:ext cx="7591162" cy="678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0"/>
              </a:lnSpc>
            </a:pPr>
            <a:r>
              <a:rPr lang="en-US" sz="4391" b="true">
                <a:solidFill>
                  <a:srgbClr val="F5F7F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610 records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59146" y="5007719"/>
            <a:ext cx="7591162" cy="1227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3"/>
              </a:lnSpc>
            </a:pPr>
            <a:r>
              <a:rPr lang="en-US" sz="3235">
                <a:solidFill>
                  <a:srgbClr val="B6C3D3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Date, hour, weather and other</a:t>
            </a:r>
          </a:p>
          <a:p>
            <a:pPr algn="l">
              <a:lnSpc>
                <a:spcPts val="3883"/>
              </a:lnSpc>
            </a:pPr>
            <a:r>
              <a:rPr lang="en-US" sz="3235">
                <a:solidFill>
                  <a:srgbClr val="B6C3D3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descriptive fields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83018" y="3119484"/>
            <a:ext cx="7664550" cy="620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6"/>
              </a:lnSpc>
            </a:pPr>
            <a:r>
              <a:rPr lang="en-US" sz="3813" b="true">
                <a:solidFill>
                  <a:srgbClr val="C7F36B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dataset_2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83018" y="3941419"/>
            <a:ext cx="7664550" cy="678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0"/>
              </a:lnSpc>
            </a:pPr>
            <a:r>
              <a:rPr lang="en-US" sz="4391" b="true">
                <a:solidFill>
                  <a:srgbClr val="F5F7F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610 records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83018" y="5007719"/>
            <a:ext cx="7664550" cy="1227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3"/>
              </a:lnSpc>
            </a:pPr>
            <a:r>
              <a:rPr lang="en-US" sz="3235">
                <a:solidFill>
                  <a:srgbClr val="B6C3D3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Casual and registered riders,</a:t>
            </a:r>
          </a:p>
          <a:p>
            <a:pPr algn="l">
              <a:lnSpc>
                <a:spcPts val="3883"/>
              </a:lnSpc>
            </a:pPr>
            <a:r>
              <a:rPr lang="en-US" sz="3235">
                <a:solidFill>
                  <a:srgbClr val="B6C3D3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total rides and other measures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65210" y="6766074"/>
            <a:ext cx="16908390" cy="14677"/>
            <a:chOff x="0" y="0"/>
            <a:chExt cx="21945600" cy="190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24156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559146" y="7302549"/>
            <a:ext cx="8325034" cy="678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15"/>
              </a:lnSpc>
            </a:pPr>
            <a:r>
              <a:rPr lang="en-US" sz="3929" b="true">
                <a:solidFill>
                  <a:srgbClr val="F5F7F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Common key: instant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59146" y="8256581"/>
            <a:ext cx="15957293" cy="1001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3120">
                <a:solidFill>
                  <a:srgbClr val="B6C3D3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dataset_a combines the matching records</a:t>
            </a:r>
          </a:p>
          <a:p>
            <a:pPr algn="l">
              <a:lnSpc>
                <a:spcPts val="3744"/>
              </a:lnSpc>
            </a:pPr>
            <a:r>
              <a:rPr lang="en-US" sz="3120">
                <a:solidFill>
                  <a:srgbClr val="B6C3D3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into 610 rows with 16 base columns.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636365" y="9527857"/>
            <a:ext cx="645795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B6C3D3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855" r="0" b="-1485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57822" y="536257"/>
            <a:ext cx="16286535" cy="33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7"/>
              </a:lnSpc>
            </a:pPr>
            <a:r>
              <a:rPr lang="en-US" sz="2123" b="true">
                <a:solidFill>
                  <a:srgbClr val="C7F36B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STEP 2   /   APPEND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27861" y="1625961"/>
            <a:ext cx="17065509" cy="1336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28"/>
              </a:lnSpc>
            </a:pPr>
            <a:r>
              <a:rPr lang="en-US" sz="5190" b="true">
                <a:solidFill>
                  <a:srgbClr val="F5F7F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The consolidated analysis table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7822" y="3217724"/>
            <a:ext cx="17035548" cy="1621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23"/>
              </a:lnSpc>
            </a:pPr>
            <a:r>
              <a:rPr lang="en-US" sz="9436" b="true">
                <a:solidFill>
                  <a:srgbClr val="C7F36B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610 + 390 = 1,000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829599"/>
            <a:ext cx="4901540" cy="542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F5F7F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dataset_a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273627" y="4718745"/>
            <a:ext cx="4901540" cy="542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F5F7F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dataset_3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01574" y="4718745"/>
            <a:ext cx="5051343" cy="542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F5F7F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dataset_b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61948" y="6220304"/>
            <a:ext cx="17257256" cy="14980"/>
            <a:chOff x="0" y="0"/>
            <a:chExt cx="21945600" cy="190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24156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57822" y="6798005"/>
            <a:ext cx="16885746" cy="632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4"/>
              </a:lnSpc>
            </a:pPr>
            <a:r>
              <a:rPr lang="en-US" sz="3420">
                <a:solidFill>
                  <a:srgbClr val="F5F7FA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Match the same 16 base columns before appending.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7822" y="7906544"/>
            <a:ext cx="16885746" cy="1351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B6C3D3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The consolidated table contains 1,000 unique instant IDs.</a:t>
            </a:r>
          </a:p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B6C3D3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Every record satisfies cnt = casual + registered.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636365" y="9527857"/>
            <a:ext cx="645795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B6C3D3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44195" y="1028700"/>
            <a:ext cx="10286654" cy="9713729"/>
            <a:chOff x="0" y="0"/>
            <a:chExt cx="910300" cy="85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0300" cy="859600"/>
            </a:xfrm>
            <a:custGeom>
              <a:avLst/>
              <a:gdLst/>
              <a:ahLst/>
              <a:cxnLst/>
              <a:rect r="r" b="b" t="t" l="l"/>
              <a:pathLst>
                <a:path h="859600" w="910300">
                  <a:moveTo>
                    <a:pt x="455150" y="0"/>
                  </a:moveTo>
                  <a:lnTo>
                    <a:pt x="910300" y="429800"/>
                  </a:lnTo>
                  <a:lnTo>
                    <a:pt x="455150" y="859600"/>
                  </a:lnTo>
                  <a:lnTo>
                    <a:pt x="0" y="429800"/>
                  </a:lnTo>
                  <a:lnTo>
                    <a:pt x="45515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l="0" t="-2949" r="0" b="-294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05840" y="526732"/>
            <a:ext cx="15533370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C7F36B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STEP 3   /   ENRICH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5840" y="1226820"/>
            <a:ext cx="16276320" cy="1284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F5F7F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Readable labels for 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5840" y="3031808"/>
            <a:ext cx="5389245" cy="551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5"/>
              </a:lnSpc>
            </a:pPr>
            <a:r>
              <a:rPr lang="en-US" sz="3487" b="true">
                <a:solidFill>
                  <a:srgbClr val="C7F36B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Date labels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49440" y="3074670"/>
            <a:ext cx="10246995" cy="82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3037">
                <a:solidFill>
                  <a:srgbClr val="F5F7FA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Stored labels show year, month and weekday names.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14400" y="4143375"/>
            <a:ext cx="16459200" cy="14288"/>
            <a:chOff x="0" y="0"/>
            <a:chExt cx="21945600" cy="19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24156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05840" y="4617720"/>
            <a:ext cx="5389245" cy="551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5"/>
              </a:lnSpc>
            </a:pPr>
            <a:r>
              <a:rPr lang="en-US" sz="3487" b="true">
                <a:solidFill>
                  <a:srgbClr val="C7F36B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Category names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49440" y="4574858"/>
            <a:ext cx="10246995" cy="1194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3037">
                <a:solidFill>
                  <a:srgbClr val="F5F7FA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Readable labels accompany season, weather</a:t>
            </a:r>
          </a:p>
          <a:p>
            <a:pPr algn="l">
              <a:lnSpc>
                <a:spcPts val="3644"/>
              </a:lnSpc>
            </a:pPr>
            <a:r>
              <a:rPr lang="en-US" sz="3037">
                <a:solidFill>
                  <a:srgbClr val="F5F7FA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and weekday codes in the analysis table.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14400" y="6072188"/>
            <a:ext cx="16459200" cy="14288"/>
            <a:chOff x="0" y="0"/>
            <a:chExt cx="21945600" cy="190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24156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05840" y="6546532"/>
            <a:ext cx="5389245" cy="551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5"/>
              </a:lnSpc>
            </a:pPr>
            <a:r>
              <a:rPr lang="en-US" sz="3487" b="true">
                <a:solidFill>
                  <a:srgbClr val="C7F36B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Day type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49440" y="6532245"/>
            <a:ext cx="10246995" cy="1194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3037">
                <a:solidFill>
                  <a:srgbClr val="F5F7FA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Holiday takes priority. Otherwise, weekday</a:t>
            </a:r>
          </a:p>
          <a:p>
            <a:pPr algn="l">
              <a:lnSpc>
                <a:spcPts val="3644"/>
              </a:lnSpc>
            </a:pPr>
            <a:r>
              <a:rPr lang="en-US" sz="3037">
                <a:solidFill>
                  <a:srgbClr val="F5F7FA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codes 0 and 6 identify the weekend.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05840" y="8346757"/>
            <a:ext cx="16104870" cy="56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812">
                <a:solidFill>
                  <a:srgbClr val="B6C3D3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Retain the original numeric codes alongside the readable labels.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636365" y="9527857"/>
            <a:ext cx="645795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B6C3D3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59927" y="2351790"/>
            <a:ext cx="7528073" cy="7935210"/>
            <a:chOff x="0" y="0"/>
            <a:chExt cx="812800" cy="8567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56758"/>
            </a:xfrm>
            <a:custGeom>
              <a:avLst/>
              <a:gdLst/>
              <a:ahLst/>
              <a:cxnLst/>
              <a:rect r="r" b="b" t="t" l="l"/>
              <a:pathLst>
                <a:path h="85675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56758"/>
                  </a:lnTo>
                  <a:lnTo>
                    <a:pt x="0" y="856758"/>
                  </a:lnTo>
                  <a:close/>
                </a:path>
              </a:pathLst>
            </a:custGeom>
            <a:blipFill>
              <a:blip r:embed="rId2">
                <a:alphaModFix amt="51000"/>
              </a:blip>
              <a:stretch>
                <a:fillRect l="-15880" t="0" r="-1588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05840" y="526732"/>
            <a:ext cx="15533370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C7F36B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STEP 4   /   VALIDATE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5840" y="1226820"/>
            <a:ext cx="16276320" cy="1284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F5F7F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Data checks before reporting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14400" y="9286875"/>
            <a:ext cx="16459200" cy="14288"/>
            <a:chOff x="0" y="0"/>
            <a:chExt cx="21945600" cy="19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24156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6636365" y="9527857"/>
            <a:ext cx="645795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B6C3D3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05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5840" y="2846070"/>
            <a:ext cx="5132070" cy="551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C7F36B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Reference checks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92265" y="2846070"/>
            <a:ext cx="10475595" cy="980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812">
                <a:solidFill>
                  <a:srgbClr val="F5F7FA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No #REF! formulas found in this workbook.</a:t>
            </a:r>
          </a:p>
          <a:p>
            <a:pPr algn="l">
              <a:lnSpc>
                <a:spcPts val="3375"/>
              </a:lnSpc>
            </a:pPr>
            <a:r>
              <a:rPr lang="en-US" sz="2812">
                <a:solidFill>
                  <a:srgbClr val="F5F7FA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All 1,000 records pass cnt = casual + registered.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14400" y="4129088"/>
            <a:ext cx="16459200" cy="14288"/>
            <a:chOff x="0" y="0"/>
            <a:chExt cx="21945600" cy="190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24156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05840" y="4517708"/>
            <a:ext cx="5132070" cy="551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C7F36B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Pivot totals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92265" y="4517708"/>
            <a:ext cx="10475595" cy="980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812">
                <a:solidFill>
                  <a:srgbClr val="F5F7FA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Saved Sunday pivots total 8,121 rides.</a:t>
            </a:r>
          </a:p>
          <a:p>
            <a:pPr algn="l">
              <a:lnSpc>
                <a:spcPts val="3375"/>
              </a:lnSpc>
            </a:pPr>
            <a:r>
              <a:rPr lang="en-US" sz="2812">
                <a:solidFill>
                  <a:srgbClr val="F5F7FA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The full dataset totals 58,304. Check filter scope.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14400" y="5800725"/>
            <a:ext cx="16459200" cy="14288"/>
            <a:chOff x="0" y="0"/>
            <a:chExt cx="21945600" cy="190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24156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05840" y="6189345"/>
            <a:ext cx="5132070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3037" b="true">
                <a:solidFill>
                  <a:srgbClr val="C7F36B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Season coding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692265" y="6189345"/>
            <a:ext cx="10475595" cy="980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812">
                <a:solidFill>
                  <a:srgbClr val="F5F7FA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Data has 997 Spring records and one each for</a:t>
            </a:r>
          </a:p>
          <a:p>
            <a:pPr algn="l">
              <a:lnSpc>
                <a:spcPts val="3375"/>
              </a:lnSpc>
            </a:pPr>
            <a:r>
              <a:rPr lang="en-US" sz="2812">
                <a:solidFill>
                  <a:srgbClr val="F5F7FA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Summer, Fall and Winter. Verify these three codes.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14400" y="7472362"/>
            <a:ext cx="16459200" cy="14288"/>
            <a:chOff x="0" y="0"/>
            <a:chExt cx="21945600" cy="190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24156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005840" y="7860982"/>
            <a:ext cx="5132070" cy="551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C7F36B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Humidity formula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692265" y="7860982"/>
            <a:ext cx="10475595" cy="980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812">
                <a:solidFill>
                  <a:srgbClr val="F5F7FA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MOST_HUMID_DAY uses atemp instead of hum.</a:t>
            </a:r>
          </a:p>
          <a:p>
            <a:pPr algn="l">
              <a:lnSpc>
                <a:spcPts val="3375"/>
              </a:lnSpc>
            </a:pPr>
            <a:r>
              <a:rPr lang="en-US" sz="2812">
                <a:solidFill>
                  <a:srgbClr val="F5F7FA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Use column L and anchor the full data range.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598" t="0" r="-7670" b="-1083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" y="7443788"/>
            <a:ext cx="16459200" cy="14288"/>
            <a:chOff x="0" y="0"/>
            <a:chExt cx="21945600" cy="190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24156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05840" y="526732"/>
            <a:ext cx="15533370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C7F36B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STEP 5   /   SUMMARIZE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5840" y="1226820"/>
            <a:ext cx="16276320" cy="1284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F5F7F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Full-data KPIs and pivot setup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5840" y="2912745"/>
            <a:ext cx="7103745" cy="1070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C7F36B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58,304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34415" y="4103370"/>
            <a:ext cx="7103745" cy="50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3037">
                <a:solidFill>
                  <a:srgbClr val="B6C3D3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total rides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706928" y="2912745"/>
            <a:ext cx="7318057" cy="1070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C7F36B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58.3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35502" y="4103370"/>
            <a:ext cx="7318057" cy="908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812">
                <a:solidFill>
                  <a:srgbClr val="B6C3D3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average rides per hourly record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5840" y="5260658"/>
            <a:ext cx="7103745" cy="965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9"/>
              </a:lnSpc>
            </a:pPr>
            <a:r>
              <a:rPr lang="en-US" sz="6075" b="true">
                <a:solidFill>
                  <a:srgbClr val="F5F7F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53,383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34415" y="6408420"/>
            <a:ext cx="7103745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B6C3D3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registered rides   (91.6%)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06928" y="5260658"/>
            <a:ext cx="7318057" cy="965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9"/>
              </a:lnSpc>
            </a:pPr>
            <a:r>
              <a:rPr lang="en-US" sz="6075" b="true">
                <a:solidFill>
                  <a:srgbClr val="F5F7F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4,921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35502" y="6408420"/>
            <a:ext cx="7318057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B6C3D3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casual rides   (8.4%)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5840" y="7875270"/>
            <a:ext cx="16247745" cy="522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3037">
                <a:solidFill>
                  <a:srgbClr val="F5F7FA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Pivot rows: hour, month, weekday or weather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05840" y="8580120"/>
            <a:ext cx="16247745" cy="446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B6C3D3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Values: sum of rider counts, or average of cnt to compare demand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636365" y="9527857"/>
            <a:ext cx="645795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B6C3D3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5840" y="526732"/>
            <a:ext cx="15533370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C7F36B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STEP 6   /   VISUALIZE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05840" y="1226820"/>
            <a:ext cx="16276320" cy="1284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F5F7F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Hourly demand peaks at 17:00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9286875"/>
            <a:ext cx="16459200" cy="14288"/>
            <a:chOff x="0" y="0"/>
            <a:chExt cx="21945600" cy="190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2415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05840" y="2522220"/>
            <a:ext cx="1210437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>
                <a:solidFill>
                  <a:srgbClr val="B6C3D3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Average rides per hourly record</a:t>
            </a:r>
          </a:p>
        </p:txBody>
      </p:sp>
      <p:pic>
        <p:nvPicPr>
          <p:cNvPr name="Picture 7" id="7" descr="Chart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50996" y="1957864"/>
            <a:ext cx="14121766" cy="7950708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3936027" y="3531870"/>
            <a:ext cx="3603308" cy="1051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9"/>
              </a:lnSpc>
            </a:pPr>
            <a:r>
              <a:rPr lang="en-US" sz="6075" b="true">
                <a:solidFill>
                  <a:srgbClr val="C7F36B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140.2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978890" y="4679633"/>
            <a:ext cx="3331845" cy="46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5F7FA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17:00 peak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936027" y="5936933"/>
            <a:ext cx="3603308" cy="946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9"/>
              </a:lnSpc>
            </a:pPr>
            <a:r>
              <a:rPr lang="en-US" sz="5175" b="true">
                <a:solidFill>
                  <a:srgbClr val="F5F7F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128.3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978890" y="6994207"/>
            <a:ext cx="3331845" cy="46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B6C3D3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08:00 peak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636365" y="9527857"/>
            <a:ext cx="645795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B6C3D3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5840" y="526732"/>
            <a:ext cx="15533370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C7F36B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STEP 7   /   INTERPRET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05840" y="1226820"/>
            <a:ext cx="16276320" cy="1284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F5F7F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Operational actions and limits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05840" y="2946083"/>
            <a:ext cx="7675245" cy="994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5"/>
              </a:lnSpc>
            </a:pPr>
            <a:r>
              <a:rPr lang="en-US" sz="3487" b="true">
                <a:solidFill>
                  <a:srgbClr val="C7F36B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Actions supported by the data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5840" y="4246245"/>
            <a:ext cx="7675245" cy="1194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3037">
                <a:solidFill>
                  <a:srgbClr val="F5F7FA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Prioritize bike availability around</a:t>
            </a:r>
          </a:p>
          <a:p>
            <a:pPr algn="l">
              <a:lnSpc>
                <a:spcPts val="3644"/>
              </a:lnSpc>
            </a:pPr>
            <a:r>
              <a:rPr lang="en-US" sz="3037">
                <a:solidFill>
                  <a:srgbClr val="F5F7FA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07:30–09:00 and 16:00–19:00.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5840" y="5822633"/>
            <a:ext cx="7675245" cy="1261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5F7FA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Protect registered-rider reliability.</a:t>
            </a:r>
          </a:p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5F7FA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This segment accounts for 91.6% of rides.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5840" y="7437120"/>
            <a:ext cx="7675245" cy="1418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5F7FA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Use weather forecasts in planning.</a:t>
            </a:r>
          </a:p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5F7FA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Rain averages 33.2 rides versus 61.7</a:t>
            </a:r>
          </a:p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5F7FA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in clear weather.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92665" y="2946083"/>
            <a:ext cx="7318057" cy="994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5"/>
              </a:lnSpc>
            </a:pPr>
            <a:r>
              <a:rPr lang="en-US" sz="3487" b="true">
                <a:solidFill>
                  <a:srgbClr val="C7F36B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Limits on interpretation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892665" y="4236720"/>
            <a:ext cx="7318057" cy="1203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B6C3D3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Only 45 calendar days of data.</a:t>
            </a:r>
          </a:p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B6C3D3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February ends on the 14th.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92665" y="5822633"/>
            <a:ext cx="7318057" cy="1203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B6C3D3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Review season coding. Heavy rain</a:t>
            </a:r>
          </a:p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B6C3D3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has only one observation.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92665" y="7437120"/>
            <a:ext cx="7318057" cy="1418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B6C3D3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Treat differences as descriptive.</a:t>
            </a:r>
          </a:p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B6C3D3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Add more months before making</a:t>
            </a:r>
          </a:p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B6C3D3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annual capacity decisions.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636365" y="9527857"/>
            <a:ext cx="645795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B6C3D3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05840" y="526732"/>
            <a:ext cx="15533370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C7F36B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STEP 8   /   FORECAST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05840" y="1226820"/>
            <a:ext cx="16276320" cy="1284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F5F7F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Forecast for 15–21 February 2011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5840" y="2912745"/>
            <a:ext cx="7103745" cy="1070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C7F36B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9,643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34415" y="4103370"/>
            <a:ext cx="7103745" cy="50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3037">
                <a:solidFill>
                  <a:srgbClr val="B6C3D3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forecast rides across seven days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06928" y="2912745"/>
            <a:ext cx="7318057" cy="1070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C7F36B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57.4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35502" y="4103370"/>
            <a:ext cx="7318057" cy="908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812">
                <a:solidFill>
                  <a:srgbClr val="B6C3D3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average forecast rides per hour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5840" y="5260658"/>
            <a:ext cx="7103745" cy="965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9"/>
              </a:lnSpc>
            </a:pPr>
            <a:r>
              <a:rPr lang="en-US" sz="6075" b="true">
                <a:solidFill>
                  <a:srgbClr val="F5F7F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207.2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4415" y="6408420"/>
            <a:ext cx="7103745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B6C3D3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peak forecast rides in one hour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06928" y="5260658"/>
            <a:ext cx="7318057" cy="965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9"/>
              </a:lnSpc>
            </a:pPr>
            <a:r>
              <a:rPr lang="en-US" sz="6075" b="true">
                <a:solidFill>
                  <a:srgbClr val="F5F7F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168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35502" y="6408420"/>
            <a:ext cx="7318057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B6C3D3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forecast hours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14400" y="7443788"/>
            <a:ext cx="16459200" cy="14288"/>
            <a:chOff x="0" y="0"/>
            <a:chExt cx="21945600" cy="190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24156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05840" y="7875270"/>
            <a:ext cx="16247745" cy="522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3037">
                <a:solidFill>
                  <a:srgbClr val="F5F7FA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Expected peak: Thursday 17 February at 08:00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05840" y="8580120"/>
            <a:ext cx="16247745" cy="446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B6C3D3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Method: historical averages for the same weekday and hour.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636365" y="9527857"/>
            <a:ext cx="645795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B6C3D3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5840" y="526732"/>
            <a:ext cx="15533370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C7F36B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STEP 9   /   DASHBOARD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05840" y="1226820"/>
            <a:ext cx="1627632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F5F7F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Dashboard: Sunday demand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05840" y="2522220"/>
            <a:ext cx="1210437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>
                <a:solidFill>
                  <a:srgbClr val="B6C3D3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Saved Sunday view: 8,121 rides, averaging 49.5 per hourly record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936027" y="3531870"/>
            <a:ext cx="3603308" cy="1051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9"/>
              </a:lnSpc>
            </a:pPr>
            <a:r>
              <a:rPr lang="en-US" sz="6075" b="true">
                <a:solidFill>
                  <a:srgbClr val="C7F36B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117.0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978890" y="4679633"/>
            <a:ext cx="3331845" cy="46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5F7FA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12:00 peak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936027" y="5936933"/>
            <a:ext cx="3603308" cy="946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9"/>
              </a:lnSpc>
            </a:pPr>
            <a:r>
              <a:rPr lang="en-US" sz="5175" b="true">
                <a:solidFill>
                  <a:srgbClr val="F5F7F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40.5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978890" y="6994207"/>
            <a:ext cx="3331845" cy="46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B6C3D3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registered / hour</a:t>
            </a:r>
          </a:p>
        </p:txBody>
      </p:sp>
      <p:pic>
        <p:nvPicPr>
          <p:cNvPr name="Picture 9" id="9" descr="Chart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50996" y="1957864"/>
            <a:ext cx="14121766" cy="7950708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918972" y="8718042"/>
            <a:ext cx="16367760" cy="365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B6C3D3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40.5 is average registered rides per hour, not a percentage share.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636365" y="9527857"/>
            <a:ext cx="645795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B6C3D3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01346" y="1302293"/>
            <a:ext cx="10286654" cy="9713729"/>
            <a:chOff x="0" y="0"/>
            <a:chExt cx="910300" cy="85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0300" cy="859600"/>
            </a:xfrm>
            <a:custGeom>
              <a:avLst/>
              <a:gdLst/>
              <a:ahLst/>
              <a:cxnLst/>
              <a:rect r="r" b="b" t="t" l="l"/>
              <a:pathLst>
                <a:path h="859600" w="910300">
                  <a:moveTo>
                    <a:pt x="455150" y="0"/>
                  </a:moveTo>
                  <a:lnTo>
                    <a:pt x="910300" y="429800"/>
                  </a:lnTo>
                  <a:lnTo>
                    <a:pt x="455150" y="859600"/>
                  </a:lnTo>
                  <a:lnTo>
                    <a:pt x="0" y="429800"/>
                  </a:lnTo>
                  <a:lnTo>
                    <a:pt x="45515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l="-40657" t="0" r="-29487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608796" y="5432108"/>
            <a:ext cx="2524417" cy="2057400"/>
          </a:xfrm>
          <a:custGeom>
            <a:avLst/>
            <a:gdLst/>
            <a:ahLst/>
            <a:cxnLst/>
            <a:rect r="r" b="b" t="t" l="l"/>
            <a:pathLst>
              <a:path h="2057400" w="2524417">
                <a:moveTo>
                  <a:pt x="0" y="0"/>
                </a:moveTo>
                <a:lnTo>
                  <a:pt x="2524418" y="0"/>
                </a:lnTo>
                <a:lnTo>
                  <a:pt x="2524418" y="2057399"/>
                </a:lnTo>
                <a:lnTo>
                  <a:pt x="0" y="20573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636365" y="9527857"/>
            <a:ext cx="645795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B6C3D3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11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56837" y="3580554"/>
            <a:ext cx="6126258" cy="1562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45"/>
              </a:lnSpc>
            </a:pPr>
            <a:r>
              <a:rPr lang="en-US" sz="10288">
                <a:solidFill>
                  <a:srgbClr val="F5F7FA"/>
                </a:solidFill>
                <a:latin typeface="Adonis"/>
                <a:ea typeface="Adonis"/>
                <a:cs typeface="Adonis"/>
                <a:sym typeface="Adonis"/>
              </a:rPr>
              <a:t>Thank you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56837" y="9537383"/>
            <a:ext cx="7020733" cy="605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39"/>
              </a:lnSpc>
            </a:pPr>
            <a:r>
              <a:rPr lang="en-US" sz="3949">
                <a:solidFill>
                  <a:srgbClr val="F5F7FA"/>
                </a:solidFill>
                <a:latin typeface="Adonis"/>
                <a:ea typeface="Adonis"/>
                <a:cs typeface="Adonis"/>
                <a:sym typeface="Adonis"/>
              </a:rPr>
              <a:t>Submitted  by : Nirmala Bisht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DAHXbhYR3fE</dc:identifier>
  <dcterms:modified xsi:type="dcterms:W3CDTF">2011-08-01T06:04:30Z</dcterms:modified>
  <cp:revision>1</cp:revision>
  <dc:title>NB BIKE PROJECT PRESENTATION</dc:title>
</cp:coreProperties>
</file>